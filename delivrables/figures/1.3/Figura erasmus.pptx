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hsEziZbWGckOZlu3jl5RZGb/r7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3CD27"/>
    <a:srgbClr val="398D99"/>
    <a:srgbClr val="F485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073"/>
    <p:restoredTop sz="94689"/>
  </p:normalViewPr>
  <p:slideViewPr>
    <p:cSldViewPr snapToGrid="0">
      <p:cViewPr>
        <p:scale>
          <a:sx n="111" d="100"/>
          <a:sy n="111" d="100"/>
        </p:scale>
        <p:origin x="2360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9892fd4ea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g39892fd4ea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"/>
          <p:cNvSpPr/>
          <p:nvPr/>
        </p:nvSpPr>
        <p:spPr>
          <a:xfrm>
            <a:off x="650755" y="1220176"/>
            <a:ext cx="2590800" cy="470606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853955" y="1524000"/>
            <a:ext cx="2184400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11" marR="0" lvl="0" indent="-22861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n-US" sz="1600" b="1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Organization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“Factors or practices associated with the Company’s strategy and vision to generate sustainable innovations”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Technology Strategy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Marketing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Financial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Industrial property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Continuous Improvement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R&amp;D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Sustainable Procurement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3374905" y="1220176"/>
            <a:ext cx="2590800" cy="470606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578105" y="1524000"/>
            <a:ext cx="218430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2. Innovation Process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“Factors or practices associated with the innovation capability of the Company”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Creativity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Customer Integration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Project Management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Portfolio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Task Organization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Design methodologies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Support tools</a:t>
            </a: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Circularity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Eco innovation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016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6168905" y="1220176"/>
            <a:ext cx="2590800" cy="470606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6372105" y="1524000"/>
            <a:ext cx="2184400" cy="4278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3. Team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“Factors associated with the human management of Company members and leaders”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Innovation Motivation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Skills management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Communication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Knowledge capitalization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Leadership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Human Capital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8962905" y="1220176"/>
            <a:ext cx="2590800" cy="4706061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60950" tIns="30475" rIns="60950" bIns="304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9166105" y="1524000"/>
            <a:ext cx="2184400" cy="30469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4. External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228611" marR="0" lvl="0" indent="-13971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“Factors associated with the environment in which the Company is located”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chemeClr val="dk1"/>
              </a:solidFill>
              <a:latin typeface="Baskerville" panose="02020502070401020303" pitchFamily="18" charset="0"/>
              <a:ea typeface="Baskerville" panose="02020502070401020303" pitchFamily="18" charset="0"/>
              <a:cs typeface="Calibri"/>
              <a:sym typeface="Calibri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Innovation network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External supervision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Regulatory pressure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Regulatory support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  <a:p>
            <a:pPr marL="190510" marR="0" lvl="0" indent="-19051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-"/>
            </a:pPr>
            <a:r>
              <a:rPr lang="en-US" sz="1600" dirty="0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rPr>
              <a:t>Environment analysis</a:t>
            </a:r>
            <a:endParaRPr sz="1600" dirty="0">
              <a:latin typeface="Baskerville" panose="02020502070401020303" pitchFamily="18" charset="0"/>
              <a:ea typeface="Baskerville" panose="020205020704010203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g39892fd4ea4_1_0"/>
          <p:cNvGrpSpPr/>
          <p:nvPr/>
        </p:nvGrpSpPr>
        <p:grpSpPr>
          <a:xfrm>
            <a:off x="-57879" y="388750"/>
            <a:ext cx="12163145" cy="5666996"/>
            <a:chOff x="-4" y="388750"/>
            <a:chExt cx="12163145" cy="5666996"/>
          </a:xfrm>
        </p:grpSpPr>
        <p:sp>
          <p:nvSpPr>
            <p:cNvPr id="99" name="Google Shape;99;g39892fd4ea4_1_0"/>
            <p:cNvSpPr txBox="1"/>
            <p:nvPr/>
          </p:nvSpPr>
          <p:spPr>
            <a:xfrm>
              <a:off x="1528991" y="2757548"/>
              <a:ext cx="2037900" cy="307800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Technology Strategy</a:t>
              </a:r>
              <a:endParaRPr dirty="0"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00" name="Google Shape;100;g39892fd4ea4_1_0"/>
            <p:cNvSpPr txBox="1"/>
            <p:nvPr/>
          </p:nvSpPr>
          <p:spPr>
            <a:xfrm>
              <a:off x="1260141" y="1188845"/>
              <a:ext cx="2590800" cy="1169700"/>
            </a:xfrm>
            <a:prstGeom prst="rect">
              <a:avLst/>
            </a:prstGeom>
            <a:solidFill>
              <a:srgbClr val="398D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b="1" dirty="0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Organization</a:t>
              </a:r>
              <a:endParaRPr sz="14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  <a:p>
              <a:pPr marL="0" marR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 dirty="0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“Factors or practices associated with the Company’s strategy and vision to generate sustainable innovations“</a:t>
              </a:r>
              <a:endParaRPr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01" name="Google Shape;101;g39892fd4ea4_1_0"/>
            <p:cNvSpPr txBox="1"/>
            <p:nvPr/>
          </p:nvSpPr>
          <p:spPr>
            <a:xfrm>
              <a:off x="3984341" y="1188845"/>
              <a:ext cx="2590800" cy="1169700"/>
            </a:xfrm>
            <a:prstGeom prst="rect">
              <a:avLst/>
            </a:prstGeom>
            <a:solidFill>
              <a:srgbClr val="398D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dirty="0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Innovation Process</a:t>
              </a:r>
              <a:endParaRPr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“Factors or practices associated with the innovation capability of the Company”</a:t>
              </a:r>
              <a:endParaRPr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endParaRPr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02" name="Google Shape;102;g39892fd4ea4_1_0"/>
            <p:cNvSpPr txBox="1"/>
            <p:nvPr/>
          </p:nvSpPr>
          <p:spPr>
            <a:xfrm>
              <a:off x="6778341" y="1188845"/>
              <a:ext cx="2590800" cy="1169700"/>
            </a:xfrm>
            <a:prstGeom prst="rect">
              <a:avLst/>
            </a:prstGeom>
            <a:solidFill>
              <a:srgbClr val="398D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Team</a:t>
              </a:r>
              <a:endParaRPr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“Factors associated with the human management of Company members and leaders“</a:t>
              </a:r>
              <a:endParaRPr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endParaRPr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03" name="Google Shape;103;g39892fd4ea4_1_0"/>
            <p:cNvSpPr txBox="1"/>
            <p:nvPr/>
          </p:nvSpPr>
          <p:spPr>
            <a:xfrm>
              <a:off x="9572341" y="1188845"/>
              <a:ext cx="2590800" cy="1169700"/>
            </a:xfrm>
            <a:prstGeom prst="rect">
              <a:avLst/>
            </a:prstGeom>
            <a:solidFill>
              <a:srgbClr val="398D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r>
                <a:rPr lang="en-US" b="1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External</a:t>
              </a:r>
              <a:endParaRPr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“Factors associated with the environment in which the Company is located“</a:t>
              </a:r>
              <a:endParaRPr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Font typeface="Arial"/>
                <a:buNone/>
              </a:pPr>
              <a:endParaRPr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04" name="Google Shape;104;g39892fd4ea4_1_0"/>
            <p:cNvSpPr txBox="1"/>
            <p:nvPr/>
          </p:nvSpPr>
          <p:spPr>
            <a:xfrm>
              <a:off x="1528941" y="3129073"/>
              <a:ext cx="2037900" cy="307800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Marketing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05" name="Google Shape;105;g39892fd4ea4_1_0"/>
            <p:cNvSpPr txBox="1"/>
            <p:nvPr/>
          </p:nvSpPr>
          <p:spPr>
            <a:xfrm>
              <a:off x="1528941" y="3500598"/>
              <a:ext cx="2037900" cy="307800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Financial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06" name="Google Shape;106;g39892fd4ea4_1_0"/>
            <p:cNvSpPr txBox="1"/>
            <p:nvPr/>
          </p:nvSpPr>
          <p:spPr>
            <a:xfrm>
              <a:off x="1528941" y="3872123"/>
              <a:ext cx="2037900" cy="307800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Industrial Property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07" name="Google Shape;107;g39892fd4ea4_1_0"/>
            <p:cNvSpPr txBox="1"/>
            <p:nvPr/>
          </p:nvSpPr>
          <p:spPr>
            <a:xfrm>
              <a:off x="1528941" y="4243648"/>
              <a:ext cx="2031995" cy="292347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 dirty="0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Continuous Improvement</a:t>
              </a:r>
              <a:endParaRPr sz="1300" dirty="0"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08" name="Google Shape;108;g39892fd4ea4_1_0"/>
            <p:cNvSpPr txBox="1"/>
            <p:nvPr/>
          </p:nvSpPr>
          <p:spPr>
            <a:xfrm>
              <a:off x="1528941" y="4615173"/>
              <a:ext cx="2037900" cy="307800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R&amp;D</a:t>
              </a:r>
              <a:endParaRPr dirty="0"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09" name="Google Shape;109;g39892fd4ea4_1_0"/>
            <p:cNvSpPr txBox="1"/>
            <p:nvPr/>
          </p:nvSpPr>
          <p:spPr>
            <a:xfrm>
              <a:off x="1528941" y="5004848"/>
              <a:ext cx="2037900" cy="307800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Sustainable Procurement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cxnSp>
          <p:nvCxnSpPr>
            <p:cNvPr id="110" name="Google Shape;110;g39892fd4ea4_1_0"/>
            <p:cNvCxnSpPr>
              <a:stCxn id="100" idx="2"/>
              <a:endCxn id="99" idx="1"/>
            </p:cNvCxnSpPr>
            <p:nvPr/>
          </p:nvCxnSpPr>
          <p:spPr>
            <a:xfrm rot="5400000">
              <a:off x="1765791" y="2121695"/>
              <a:ext cx="552900" cy="1026600"/>
            </a:xfrm>
            <a:prstGeom prst="bentConnector4">
              <a:avLst>
                <a:gd name="adj1" fmla="val 36083"/>
                <a:gd name="adj2" fmla="val 123191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1" name="Google Shape;111;g39892fd4ea4_1_0"/>
            <p:cNvCxnSpPr>
              <a:stCxn id="100" idx="2"/>
            </p:cNvCxnSpPr>
            <p:nvPr/>
          </p:nvCxnSpPr>
          <p:spPr>
            <a:xfrm>
              <a:off x="2555541" y="2358545"/>
              <a:ext cx="1800" cy="21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2" name="Google Shape;112;g39892fd4ea4_1_0"/>
            <p:cNvCxnSpPr/>
            <p:nvPr/>
          </p:nvCxnSpPr>
          <p:spPr>
            <a:xfrm flipH="1">
              <a:off x="1286386" y="2911282"/>
              <a:ext cx="4500" cy="2250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3" name="Google Shape;113;g39892fd4ea4_1_0"/>
            <p:cNvCxnSpPr/>
            <p:nvPr/>
          </p:nvCxnSpPr>
          <p:spPr>
            <a:xfrm flipH="1">
              <a:off x="1280241" y="5158448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4" name="Google Shape;114;g39892fd4ea4_1_0"/>
            <p:cNvCxnSpPr/>
            <p:nvPr/>
          </p:nvCxnSpPr>
          <p:spPr>
            <a:xfrm flipH="1">
              <a:off x="1280264" y="476906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5" name="Google Shape;115;g39892fd4ea4_1_0"/>
            <p:cNvCxnSpPr/>
            <p:nvPr/>
          </p:nvCxnSpPr>
          <p:spPr>
            <a:xfrm flipH="1">
              <a:off x="1280264" y="439738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6" name="Google Shape;116;g39892fd4ea4_1_0"/>
            <p:cNvCxnSpPr/>
            <p:nvPr/>
          </p:nvCxnSpPr>
          <p:spPr>
            <a:xfrm flipH="1">
              <a:off x="1280264" y="40257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g39892fd4ea4_1_0"/>
            <p:cNvCxnSpPr/>
            <p:nvPr/>
          </p:nvCxnSpPr>
          <p:spPr>
            <a:xfrm flipH="1">
              <a:off x="1280264" y="365433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g39892fd4ea4_1_0"/>
            <p:cNvCxnSpPr/>
            <p:nvPr/>
          </p:nvCxnSpPr>
          <p:spPr>
            <a:xfrm flipH="1">
              <a:off x="1280264" y="32828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19" name="Google Shape;119;g39892fd4ea4_1_0"/>
            <p:cNvSpPr txBox="1"/>
            <p:nvPr/>
          </p:nvSpPr>
          <p:spPr>
            <a:xfrm>
              <a:off x="4318163" y="275754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Creativity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0" name="Google Shape;120;g39892fd4ea4_1_0"/>
            <p:cNvSpPr txBox="1"/>
            <p:nvPr/>
          </p:nvSpPr>
          <p:spPr>
            <a:xfrm>
              <a:off x="4318113" y="312907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Customer Integration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1" name="Google Shape;121;g39892fd4ea4_1_0"/>
            <p:cNvSpPr txBox="1"/>
            <p:nvPr/>
          </p:nvSpPr>
          <p:spPr>
            <a:xfrm>
              <a:off x="4318113" y="350059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Project Management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2" name="Google Shape;122;g39892fd4ea4_1_0"/>
            <p:cNvSpPr txBox="1"/>
            <p:nvPr/>
          </p:nvSpPr>
          <p:spPr>
            <a:xfrm>
              <a:off x="4318113" y="387212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Portfolio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3" name="Google Shape;123;g39892fd4ea4_1_0"/>
            <p:cNvSpPr txBox="1"/>
            <p:nvPr/>
          </p:nvSpPr>
          <p:spPr>
            <a:xfrm>
              <a:off x="4318113" y="424364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Task Organization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4" name="Google Shape;124;g39892fd4ea4_1_0"/>
            <p:cNvSpPr txBox="1"/>
            <p:nvPr/>
          </p:nvSpPr>
          <p:spPr>
            <a:xfrm>
              <a:off x="4318113" y="461517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Design Methodologies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5" name="Google Shape;125;g39892fd4ea4_1_0"/>
            <p:cNvSpPr txBox="1"/>
            <p:nvPr/>
          </p:nvSpPr>
          <p:spPr>
            <a:xfrm>
              <a:off x="4318113" y="500484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Support Tools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6" name="Google Shape;126;g39892fd4ea4_1_0"/>
            <p:cNvSpPr txBox="1"/>
            <p:nvPr/>
          </p:nvSpPr>
          <p:spPr>
            <a:xfrm>
              <a:off x="4318113" y="537637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Circularity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27" name="Google Shape;127;g39892fd4ea4_1_0"/>
            <p:cNvSpPr txBox="1"/>
            <p:nvPr/>
          </p:nvSpPr>
          <p:spPr>
            <a:xfrm>
              <a:off x="4318113" y="5747898"/>
              <a:ext cx="2037900" cy="307800"/>
            </a:xfrm>
            <a:prstGeom prst="rect">
              <a:avLst/>
            </a:prstGeom>
            <a:ln w="6350">
              <a:solidFill>
                <a:srgbClr val="83CD27"/>
              </a:solidFill>
              <a:headEnd type="none" w="sm" len="sm"/>
              <a:tailEnd type="none" w="sm" len="sm"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Eco-innovation</a:t>
              </a:r>
              <a:endParaRPr dirty="0"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cxnSp>
          <p:nvCxnSpPr>
            <p:cNvPr id="128" name="Google Shape;128;g39892fd4ea4_1_0"/>
            <p:cNvCxnSpPr>
              <a:endCxn id="119" idx="1"/>
            </p:cNvCxnSpPr>
            <p:nvPr/>
          </p:nvCxnSpPr>
          <p:spPr>
            <a:xfrm flipH="1">
              <a:off x="4318163" y="2558948"/>
              <a:ext cx="1028400" cy="352500"/>
            </a:xfrm>
            <a:prstGeom prst="bentConnector3">
              <a:avLst>
                <a:gd name="adj1" fmla="val 12315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" name="Google Shape;129;g39892fd4ea4_1_0"/>
            <p:cNvCxnSpPr/>
            <p:nvPr/>
          </p:nvCxnSpPr>
          <p:spPr>
            <a:xfrm>
              <a:off x="5344713" y="2358545"/>
              <a:ext cx="1800" cy="21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" name="Google Shape;130;g39892fd4ea4_1_0"/>
            <p:cNvCxnSpPr/>
            <p:nvPr/>
          </p:nvCxnSpPr>
          <p:spPr>
            <a:xfrm flipH="1">
              <a:off x="4068359" y="2911282"/>
              <a:ext cx="11700" cy="2994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1" name="Google Shape;131;g39892fd4ea4_1_0"/>
            <p:cNvCxnSpPr>
              <a:stCxn id="127" idx="1"/>
            </p:cNvCxnSpPr>
            <p:nvPr/>
          </p:nvCxnSpPr>
          <p:spPr>
            <a:xfrm flipH="1">
              <a:off x="4069413" y="5901798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2" name="Google Shape;132;g39892fd4ea4_1_0"/>
            <p:cNvCxnSpPr/>
            <p:nvPr/>
          </p:nvCxnSpPr>
          <p:spPr>
            <a:xfrm flipH="1">
              <a:off x="4069413" y="5530123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3" name="Google Shape;133;g39892fd4ea4_1_0"/>
            <p:cNvCxnSpPr/>
            <p:nvPr/>
          </p:nvCxnSpPr>
          <p:spPr>
            <a:xfrm flipH="1">
              <a:off x="4069413" y="5158448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g39892fd4ea4_1_0"/>
            <p:cNvCxnSpPr/>
            <p:nvPr/>
          </p:nvCxnSpPr>
          <p:spPr>
            <a:xfrm flipH="1">
              <a:off x="4069437" y="476906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5" name="Google Shape;135;g39892fd4ea4_1_0"/>
            <p:cNvCxnSpPr/>
            <p:nvPr/>
          </p:nvCxnSpPr>
          <p:spPr>
            <a:xfrm flipH="1">
              <a:off x="4069437" y="439738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6" name="Google Shape;136;g39892fd4ea4_1_0"/>
            <p:cNvCxnSpPr/>
            <p:nvPr/>
          </p:nvCxnSpPr>
          <p:spPr>
            <a:xfrm flipH="1">
              <a:off x="4069437" y="40257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7" name="Google Shape;137;g39892fd4ea4_1_0"/>
            <p:cNvCxnSpPr/>
            <p:nvPr/>
          </p:nvCxnSpPr>
          <p:spPr>
            <a:xfrm flipH="1">
              <a:off x="4069437" y="365433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g39892fd4ea4_1_0"/>
            <p:cNvCxnSpPr/>
            <p:nvPr/>
          </p:nvCxnSpPr>
          <p:spPr>
            <a:xfrm flipH="1">
              <a:off x="4069437" y="32828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39" name="Google Shape;139;g39892fd4ea4_1_0"/>
            <p:cNvSpPr txBox="1"/>
            <p:nvPr/>
          </p:nvSpPr>
          <p:spPr>
            <a:xfrm>
              <a:off x="7179702" y="275754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Innovation Motivation</a:t>
              </a:r>
              <a:endParaRPr dirty="0"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40" name="Google Shape;140;g39892fd4ea4_1_0"/>
            <p:cNvSpPr txBox="1"/>
            <p:nvPr/>
          </p:nvSpPr>
          <p:spPr>
            <a:xfrm>
              <a:off x="7179652" y="312907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Skills Management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41" name="Google Shape;141;g39892fd4ea4_1_0"/>
            <p:cNvSpPr txBox="1"/>
            <p:nvPr/>
          </p:nvSpPr>
          <p:spPr>
            <a:xfrm>
              <a:off x="7179652" y="350059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Communication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42" name="Google Shape;142;g39892fd4ea4_1_0"/>
            <p:cNvSpPr txBox="1"/>
            <p:nvPr/>
          </p:nvSpPr>
          <p:spPr>
            <a:xfrm>
              <a:off x="7179652" y="3872123"/>
              <a:ext cx="2037900" cy="52318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Knowledge Capitalization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43" name="Google Shape;143;g39892fd4ea4_1_0"/>
            <p:cNvSpPr txBox="1"/>
            <p:nvPr/>
          </p:nvSpPr>
          <p:spPr>
            <a:xfrm>
              <a:off x="7179652" y="424364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Leadership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44" name="Google Shape;144;g39892fd4ea4_1_0"/>
            <p:cNvSpPr txBox="1"/>
            <p:nvPr/>
          </p:nvSpPr>
          <p:spPr>
            <a:xfrm>
              <a:off x="7179652" y="461517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human Capital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cxnSp>
          <p:nvCxnSpPr>
            <p:cNvPr id="145" name="Google Shape;145;g39892fd4ea4_1_0"/>
            <p:cNvCxnSpPr>
              <a:endCxn id="139" idx="1"/>
            </p:cNvCxnSpPr>
            <p:nvPr/>
          </p:nvCxnSpPr>
          <p:spPr>
            <a:xfrm flipH="1">
              <a:off x="7179702" y="2564948"/>
              <a:ext cx="1034100" cy="346500"/>
            </a:xfrm>
            <a:prstGeom prst="bentConnector3">
              <a:avLst>
                <a:gd name="adj1" fmla="val 12302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6" name="Google Shape;146;g39892fd4ea4_1_0"/>
            <p:cNvCxnSpPr/>
            <p:nvPr/>
          </p:nvCxnSpPr>
          <p:spPr>
            <a:xfrm>
              <a:off x="8206252" y="2358545"/>
              <a:ext cx="1800" cy="21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7" name="Google Shape;147;g39892fd4ea4_1_0"/>
            <p:cNvCxnSpPr/>
            <p:nvPr/>
          </p:nvCxnSpPr>
          <p:spPr>
            <a:xfrm flipH="1">
              <a:off x="6936197" y="2911282"/>
              <a:ext cx="5400" cy="1860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8" name="Google Shape;148;g39892fd4ea4_1_0"/>
            <p:cNvCxnSpPr/>
            <p:nvPr/>
          </p:nvCxnSpPr>
          <p:spPr>
            <a:xfrm flipH="1">
              <a:off x="6930975" y="476906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9" name="Google Shape;149;g39892fd4ea4_1_0"/>
            <p:cNvCxnSpPr/>
            <p:nvPr/>
          </p:nvCxnSpPr>
          <p:spPr>
            <a:xfrm flipH="1">
              <a:off x="6930975" y="439738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g39892fd4ea4_1_0"/>
            <p:cNvCxnSpPr/>
            <p:nvPr/>
          </p:nvCxnSpPr>
          <p:spPr>
            <a:xfrm flipH="1">
              <a:off x="6930975" y="40257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1" name="Google Shape;151;g39892fd4ea4_1_0"/>
            <p:cNvCxnSpPr/>
            <p:nvPr/>
          </p:nvCxnSpPr>
          <p:spPr>
            <a:xfrm flipH="1">
              <a:off x="6930975" y="365433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2" name="Google Shape;152;g39892fd4ea4_1_0"/>
            <p:cNvCxnSpPr/>
            <p:nvPr/>
          </p:nvCxnSpPr>
          <p:spPr>
            <a:xfrm flipH="1">
              <a:off x="6930975" y="32828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3" name="Google Shape;153;g39892fd4ea4_1_0"/>
            <p:cNvSpPr txBox="1"/>
            <p:nvPr/>
          </p:nvSpPr>
          <p:spPr>
            <a:xfrm>
              <a:off x="9973702" y="275754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Innovation Network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54" name="Google Shape;154;g39892fd4ea4_1_0"/>
            <p:cNvSpPr txBox="1"/>
            <p:nvPr/>
          </p:nvSpPr>
          <p:spPr>
            <a:xfrm>
              <a:off x="9973652" y="312907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External Supervision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55" name="Google Shape;155;g39892fd4ea4_1_0"/>
            <p:cNvSpPr txBox="1"/>
            <p:nvPr/>
          </p:nvSpPr>
          <p:spPr>
            <a:xfrm>
              <a:off x="9973652" y="350059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Regulatory Pressure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56" name="Google Shape;156;g39892fd4ea4_1_0"/>
            <p:cNvSpPr txBox="1"/>
            <p:nvPr/>
          </p:nvSpPr>
          <p:spPr>
            <a:xfrm>
              <a:off x="9973652" y="3872123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Regulatory Support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sp>
          <p:nvSpPr>
            <p:cNvPr id="157" name="Google Shape;157;g39892fd4ea4_1_0"/>
            <p:cNvSpPr txBox="1"/>
            <p:nvPr/>
          </p:nvSpPr>
          <p:spPr>
            <a:xfrm>
              <a:off x="9973652" y="4243648"/>
              <a:ext cx="2037900" cy="307800"/>
            </a:xfrm>
            <a:prstGeom prst="rect">
              <a:avLst/>
            </a:prstGeom>
            <a:noFill/>
            <a:ln w="9525" cap="flat" cmpd="sng">
              <a:solidFill>
                <a:srgbClr val="83CD2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Environmental Analysis</a:t>
              </a:r>
              <a:endParaRPr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cxnSp>
          <p:nvCxnSpPr>
            <p:cNvPr id="158" name="Google Shape;158;g39892fd4ea4_1_0"/>
            <p:cNvCxnSpPr>
              <a:endCxn id="153" idx="1"/>
            </p:cNvCxnSpPr>
            <p:nvPr/>
          </p:nvCxnSpPr>
          <p:spPr>
            <a:xfrm flipH="1">
              <a:off x="9973702" y="2562548"/>
              <a:ext cx="1032300" cy="348900"/>
            </a:xfrm>
            <a:prstGeom prst="bentConnector3">
              <a:avLst>
                <a:gd name="adj1" fmla="val 1230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9" name="Google Shape;159;g39892fd4ea4_1_0"/>
            <p:cNvCxnSpPr/>
            <p:nvPr/>
          </p:nvCxnSpPr>
          <p:spPr>
            <a:xfrm>
              <a:off x="11000252" y="2358545"/>
              <a:ext cx="1800" cy="2115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0" name="Google Shape;160;g39892fd4ea4_1_0"/>
            <p:cNvCxnSpPr/>
            <p:nvPr/>
          </p:nvCxnSpPr>
          <p:spPr>
            <a:xfrm flipH="1">
              <a:off x="9732297" y="2911282"/>
              <a:ext cx="3300" cy="1485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1" name="Google Shape;161;g39892fd4ea4_1_0"/>
            <p:cNvCxnSpPr/>
            <p:nvPr/>
          </p:nvCxnSpPr>
          <p:spPr>
            <a:xfrm flipH="1">
              <a:off x="9724975" y="439738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2" name="Google Shape;162;g39892fd4ea4_1_0"/>
            <p:cNvCxnSpPr/>
            <p:nvPr/>
          </p:nvCxnSpPr>
          <p:spPr>
            <a:xfrm flipH="1">
              <a:off x="9724975" y="40257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Google Shape;163;g39892fd4ea4_1_0"/>
            <p:cNvCxnSpPr/>
            <p:nvPr/>
          </p:nvCxnSpPr>
          <p:spPr>
            <a:xfrm flipH="1">
              <a:off x="9724975" y="3654336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4" name="Google Shape;164;g39892fd4ea4_1_0"/>
            <p:cNvCxnSpPr/>
            <p:nvPr/>
          </p:nvCxnSpPr>
          <p:spPr>
            <a:xfrm flipH="1">
              <a:off x="9724975" y="3282811"/>
              <a:ext cx="248700" cy="3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5" name="Google Shape;165;g39892fd4ea4_1_0"/>
            <p:cNvSpPr txBox="1"/>
            <p:nvPr/>
          </p:nvSpPr>
          <p:spPr>
            <a:xfrm>
              <a:off x="4922534" y="388750"/>
              <a:ext cx="3116400" cy="615513"/>
            </a:xfrm>
            <a:prstGeom prst="rect">
              <a:avLst/>
            </a:prstGeom>
            <a:solidFill>
              <a:srgbClr val="F48526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00" b="1" dirty="0">
                  <a:solidFill>
                    <a:schemeClr val="bg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Sustainable Innovation Index</a:t>
              </a:r>
              <a:endParaRPr sz="1700" dirty="0">
                <a:solidFill>
                  <a:schemeClr val="bg1"/>
                </a:solidFill>
                <a:latin typeface="Baskerville" panose="02020502070401020303" pitchFamily="18" charset="0"/>
                <a:ea typeface="Baskerville" panose="02020502070401020303" pitchFamily="18" charset="0"/>
              </a:endParaRPr>
            </a:p>
          </p:txBody>
        </p:sp>
        <p:cxnSp>
          <p:nvCxnSpPr>
            <p:cNvPr id="166" name="Google Shape;166;g39892fd4ea4_1_0"/>
            <p:cNvCxnSpPr>
              <a:stCxn id="165" idx="2"/>
              <a:endCxn id="100" idx="0"/>
            </p:cNvCxnSpPr>
            <p:nvPr/>
          </p:nvCxnSpPr>
          <p:spPr>
            <a:xfrm rot="5400000">
              <a:off x="4425847" y="-866042"/>
              <a:ext cx="184582" cy="3925193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g39892fd4ea4_1_0"/>
            <p:cNvCxnSpPr>
              <a:stCxn id="165" idx="2"/>
              <a:endCxn id="101" idx="0"/>
            </p:cNvCxnSpPr>
            <p:nvPr/>
          </p:nvCxnSpPr>
          <p:spPr>
            <a:xfrm rot="5400000">
              <a:off x="5787947" y="496058"/>
              <a:ext cx="184582" cy="1200993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8" name="Google Shape;168;g39892fd4ea4_1_0"/>
            <p:cNvCxnSpPr>
              <a:stCxn id="165" idx="2"/>
              <a:endCxn id="102" idx="0"/>
            </p:cNvCxnSpPr>
            <p:nvPr/>
          </p:nvCxnSpPr>
          <p:spPr>
            <a:xfrm rot="16200000" flipH="1">
              <a:off x="7184946" y="300050"/>
              <a:ext cx="184582" cy="1593007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g39892fd4ea4_1_0"/>
            <p:cNvCxnSpPr>
              <a:stCxn id="165" idx="2"/>
              <a:endCxn id="103" idx="0"/>
            </p:cNvCxnSpPr>
            <p:nvPr/>
          </p:nvCxnSpPr>
          <p:spPr>
            <a:xfrm rot="16200000" flipH="1">
              <a:off x="8581946" y="-1096950"/>
              <a:ext cx="184582" cy="4387007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g39892fd4ea4_1_0"/>
            <p:cNvSpPr txBox="1"/>
            <p:nvPr/>
          </p:nvSpPr>
          <p:spPr>
            <a:xfrm>
              <a:off x="-4" y="388750"/>
              <a:ext cx="8859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Level 1</a:t>
              </a:r>
              <a:endParaRPr sz="1800" i="1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71" name="Google Shape;171;g39892fd4ea4_1_0"/>
            <p:cNvSpPr txBox="1"/>
            <p:nvPr/>
          </p:nvSpPr>
          <p:spPr>
            <a:xfrm>
              <a:off x="-4" y="1501310"/>
              <a:ext cx="8859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Level 2</a:t>
              </a:r>
              <a:endParaRPr sz="1800" i="1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72" name="Google Shape;172;g39892fd4ea4_1_0"/>
            <p:cNvSpPr/>
            <p:nvPr/>
          </p:nvSpPr>
          <p:spPr>
            <a:xfrm>
              <a:off x="804400" y="467725"/>
              <a:ext cx="54300" cy="307800"/>
            </a:xfrm>
            <a:prstGeom prst="leftBrace">
              <a:avLst>
                <a:gd name="adj1" fmla="val 161111"/>
                <a:gd name="adj2" fmla="val 5088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73" name="Google Shape;173;g39892fd4ea4_1_0"/>
            <p:cNvSpPr/>
            <p:nvPr/>
          </p:nvSpPr>
          <p:spPr>
            <a:xfrm>
              <a:off x="783875" y="1188817"/>
              <a:ext cx="102000" cy="1169700"/>
            </a:xfrm>
            <a:prstGeom prst="leftBrace">
              <a:avLst>
                <a:gd name="adj1" fmla="val 161111"/>
                <a:gd name="adj2" fmla="val 5088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74" name="Google Shape;174;g39892fd4ea4_1_0"/>
            <p:cNvSpPr txBox="1"/>
            <p:nvPr/>
          </p:nvSpPr>
          <p:spPr>
            <a:xfrm>
              <a:off x="-3" y="4179934"/>
              <a:ext cx="885900" cy="354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 i="1">
                  <a:solidFill>
                    <a:schemeClr val="dk1"/>
                  </a:solidFill>
                  <a:latin typeface="Baskerville" panose="02020502070401020303" pitchFamily="18" charset="0"/>
                  <a:ea typeface="Baskerville" panose="02020502070401020303" pitchFamily="18" charset="0"/>
                  <a:cs typeface="Calibri"/>
                  <a:sym typeface="Calibri"/>
                </a:rPr>
                <a:t>Level 3</a:t>
              </a:r>
              <a:endParaRPr sz="1800" i="1">
                <a:solidFill>
                  <a:schemeClr val="dk1"/>
                </a:solidFill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  <p:sp>
          <p:nvSpPr>
            <p:cNvPr id="175" name="Google Shape;175;g39892fd4ea4_1_0"/>
            <p:cNvSpPr/>
            <p:nvPr/>
          </p:nvSpPr>
          <p:spPr>
            <a:xfrm>
              <a:off x="771800" y="2757546"/>
              <a:ext cx="102000" cy="3298200"/>
            </a:xfrm>
            <a:prstGeom prst="leftBrace">
              <a:avLst>
                <a:gd name="adj1" fmla="val 161111"/>
                <a:gd name="adj2" fmla="val 50885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skerville" panose="02020502070401020303" pitchFamily="18" charset="0"/>
                <a:ea typeface="Baskerville" panose="02020502070401020303" pitchFamily="18" charset="0"/>
                <a:cs typeface="Calibri"/>
                <a:sym typeface="Calibri"/>
              </a:endParaRPr>
            </a:p>
          </p:txBody>
        </p:sp>
      </p:grpSp>
      <p:pic>
        <p:nvPicPr>
          <p:cNvPr id="4" name="Image 3">
            <a:extLst>
              <a:ext uri="{FF2B5EF4-FFF2-40B4-BE49-F238E27FC236}">
                <a16:creationId xmlns:a16="http://schemas.microsoft.com/office/drawing/2014/main" id="{C7313C81-9DEA-E9C2-33B1-72EDCF2DE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2272" y="46792"/>
            <a:ext cx="1003300" cy="381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230</Words>
  <Application>Microsoft Macintosh PowerPoint</Application>
  <PresentationFormat>Grand écran</PresentationFormat>
  <Paragraphs>82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6" baseType="lpstr">
      <vt:lpstr>Arial</vt:lpstr>
      <vt:lpstr>Baskerville</vt:lpstr>
      <vt:lpstr>Calibri</vt:lpstr>
      <vt:lpstr>Tema de Office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Daniel Gálvez</dc:creator>
  <cp:lastModifiedBy>Fabio Cruz Sanchez</cp:lastModifiedBy>
  <cp:revision>4</cp:revision>
  <cp:lastPrinted>2025-11-05T07:36:09Z</cp:lastPrinted>
  <dcterms:created xsi:type="dcterms:W3CDTF">2025-10-31T14:31:47Z</dcterms:created>
  <dcterms:modified xsi:type="dcterms:W3CDTF">2025-11-05T07:41:48Z</dcterms:modified>
</cp:coreProperties>
</file>